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70" r:id="rId12"/>
    <p:sldId id="266" r:id="rId13"/>
    <p:sldId id="268" r:id="rId14"/>
  </p:sldIdLst>
  <p:sldSz cx="12192000" cy="6858000"/>
  <p:notesSz cx="6858000" cy="9144000"/>
  <p:embeddedFontLst>
    <p:embeddedFont>
      <p:font typeface="Arimo" panose="020B0604020202020204" pitchFamily="34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Medium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F9A"/>
    <a:srgbClr val="DA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7346E9-2802-4BF9-9A39-DC818C32FE06}">
  <a:tblStyle styleId="{397346E9-2802-4BF9-9A39-DC818C32FE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93" autoAdjust="0"/>
  </p:normalViewPr>
  <p:slideViewPr>
    <p:cSldViewPr snapToGrid="0">
      <p:cViewPr>
        <p:scale>
          <a:sx n="75" d="100"/>
          <a:sy n="75" d="100"/>
        </p:scale>
        <p:origin x="125" y="41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vhenCherepko\Downloads\&#1092;&#1076;&#1076;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vhenCherepko\Downloads\&#1092;&#1076;&#1076;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vhenCherepko\Downloads\&#1092;&#1076;&#1076;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vhenCherepko\Downloads\&#1092;&#1076;&#1076;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vhenCherepko\Downloads\&#1092;&#1076;&#1076;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[фдд.csv]Speed-detection!PivotTable7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uk-UA"/>
              <a:t>Коефіцієнт виявлених колізій</a:t>
            </a:r>
            <a:br>
              <a:rPr lang="uk-UA"/>
            </a:br>
            <a:r>
              <a:rPr lang="uk-UA"/>
              <a:t>від лінійної швидкості</a:t>
            </a:r>
            <a:endParaRPr lang="en-US"/>
          </a:p>
        </c:rich>
      </c:tx>
      <c:layout>
        <c:manualLayout>
          <c:xMode val="edge"/>
          <c:yMode val="edge"/>
          <c:x val="0.10084678769753187"/>
          <c:y val="4.52755905511811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percentStacked"/>
        <c:varyColors val="0"/>
        <c:ser>
          <c:idx val="0"/>
          <c:order val="0"/>
          <c:tx>
            <c:strRef>
              <c:f>'Speed-detection'!$B$3:$B$4</c:f>
              <c:strCache>
                <c:ptCount val="1"/>
                <c:pt idx="0">
                  <c:v>CA 100 (100cm)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'Speed-detection'!$B$5:$B$13</c:f>
              <c:numCache>
                <c:formatCode>General</c:formatCode>
                <c:ptCount val="8"/>
                <c:pt idx="0">
                  <c:v>0.83333333333333337</c:v>
                </c:pt>
                <c:pt idx="1">
                  <c:v>1</c:v>
                </c:pt>
                <c:pt idx="2">
                  <c:v>0.8571428571428571</c:v>
                </c:pt>
                <c:pt idx="3">
                  <c:v>1</c:v>
                </c:pt>
                <c:pt idx="4">
                  <c:v>0.42857142857142855</c:v>
                </c:pt>
                <c:pt idx="5">
                  <c:v>1</c:v>
                </c:pt>
                <c:pt idx="6">
                  <c:v>0.8571428571428571</c:v>
                </c:pt>
                <c:pt idx="7">
                  <c:v>0.5714285714285714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1B-4658-84B5-EE9FED0451B9}"/>
            </c:ext>
          </c:extLst>
        </c:ser>
        <c:ser>
          <c:idx val="1"/>
          <c:order val="1"/>
          <c:tx>
            <c:strRef>
              <c:f>'Speed-detection'!$C$3:$C$4</c:f>
              <c:strCache>
                <c:ptCount val="1"/>
                <c:pt idx="0">
                  <c:v>CA 100 (10cm)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'Speed-detection'!$C$5:$C$13</c:f>
              <c:numCache>
                <c:formatCode>General</c:formatCode>
                <c:ptCount val="8"/>
                <c:pt idx="0">
                  <c:v>1</c:v>
                </c:pt>
                <c:pt idx="1">
                  <c:v>0.8571428571428571</c:v>
                </c:pt>
                <c:pt idx="2">
                  <c:v>0.42857142857142855</c:v>
                </c:pt>
                <c:pt idx="3">
                  <c:v>0.5714285714285714</c:v>
                </c:pt>
                <c:pt idx="4">
                  <c:v>0.42857142857142855</c:v>
                </c:pt>
                <c:pt idx="5">
                  <c:v>0.5714285714285714</c:v>
                </c:pt>
                <c:pt idx="6">
                  <c:v>0.2857142857142857</c:v>
                </c:pt>
                <c:pt idx="7">
                  <c:v>0.5714285714285714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1B-4658-84B5-EE9FED0451B9}"/>
            </c:ext>
          </c:extLst>
        </c:ser>
        <c:ser>
          <c:idx val="2"/>
          <c:order val="2"/>
          <c:tx>
            <c:strRef>
              <c:f>'Speed-detection'!$D$3:$D$4</c:f>
              <c:strCache>
                <c:ptCount val="1"/>
                <c:pt idx="0">
                  <c:v>CA 15 (100cm)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'Speed-detection'!$D$5:$D$13</c:f>
              <c:numCache>
                <c:formatCode>General</c:formatCode>
                <c:ptCount val="8"/>
                <c:pt idx="0">
                  <c:v>0.83333333333333337</c:v>
                </c:pt>
                <c:pt idx="1">
                  <c:v>0.7142857142857143</c:v>
                </c:pt>
                <c:pt idx="2">
                  <c:v>0.2857142857142857</c:v>
                </c:pt>
                <c:pt idx="3">
                  <c:v>0.7142857142857143</c:v>
                </c:pt>
                <c:pt idx="4">
                  <c:v>0.2857142857142857</c:v>
                </c:pt>
                <c:pt idx="5">
                  <c:v>0.14285714285714285</c:v>
                </c:pt>
                <c:pt idx="6">
                  <c:v>0.14285714285714285</c:v>
                </c:pt>
                <c:pt idx="7">
                  <c:v>0.2857142857142857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1B-4658-84B5-EE9FED0451B9}"/>
            </c:ext>
          </c:extLst>
        </c:ser>
        <c:ser>
          <c:idx val="3"/>
          <c:order val="3"/>
          <c:tx>
            <c:strRef>
              <c:f>'Speed-detection'!$E$3:$E$4</c:f>
              <c:strCache>
                <c:ptCount val="1"/>
                <c:pt idx="0">
                  <c:v>CA 15 (10cm)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'Speed-detection'!$E$5:$E$13</c:f>
              <c:numCache>
                <c:formatCode>General</c:formatCode>
                <c:ptCount val="8"/>
                <c:pt idx="0">
                  <c:v>0.83333333333333337</c:v>
                </c:pt>
                <c:pt idx="1">
                  <c:v>0.14285714285714285</c:v>
                </c:pt>
                <c:pt idx="2">
                  <c:v>0.5714285714285714</c:v>
                </c:pt>
                <c:pt idx="3">
                  <c:v>0.14285714285714285</c:v>
                </c:pt>
                <c:pt idx="4">
                  <c:v>0.42857142857142855</c:v>
                </c:pt>
                <c:pt idx="5">
                  <c:v>0.14285714285714285</c:v>
                </c:pt>
                <c:pt idx="6">
                  <c:v>0.14285714285714285</c:v>
                </c:pt>
                <c:pt idx="7">
                  <c:v>0.14285714285714285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1B-4658-84B5-EE9FED0451B9}"/>
            </c:ext>
          </c:extLst>
        </c:ser>
        <c:ser>
          <c:idx val="4"/>
          <c:order val="4"/>
          <c:tx>
            <c:strRef>
              <c:f>'Speed-detection'!$F$3:$F$4</c:f>
              <c:strCache>
                <c:ptCount val="1"/>
                <c:pt idx="0">
                  <c:v>Discrete (100cm)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'Speed-detection'!$F$5:$F$13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0.14285714285714285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01B-4658-84B5-EE9FED0451B9}"/>
            </c:ext>
          </c:extLst>
        </c:ser>
        <c:ser>
          <c:idx val="5"/>
          <c:order val="5"/>
          <c:tx>
            <c:strRef>
              <c:f>'Speed-detection'!$G$3:$G$4</c:f>
              <c:strCache>
                <c:ptCount val="1"/>
                <c:pt idx="0">
                  <c:v>Discrete (10cm)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'Speed-detection'!$G$5:$G$13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01B-4658-84B5-EE9FED0451B9}"/>
            </c:ext>
          </c:extLst>
        </c:ser>
        <c:ser>
          <c:idx val="6"/>
          <c:order val="6"/>
          <c:tx>
            <c:strRef>
              <c:f>'Speed-detection'!$H$3:$H$4</c:f>
              <c:strCache>
                <c:ptCount val="1"/>
                <c:pt idx="0">
                  <c:v>Ray-Cast Agg. 512 (100cm)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'Speed-detection'!$H$5:$H$13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01B-4658-84B5-EE9FED0451B9}"/>
            </c:ext>
          </c:extLst>
        </c:ser>
        <c:ser>
          <c:idx val="7"/>
          <c:order val="7"/>
          <c:tx>
            <c:strRef>
              <c:f>'Speed-detection'!$I$3:$I$4</c:f>
              <c:strCache>
                <c:ptCount val="1"/>
                <c:pt idx="0">
                  <c:v>Ray-Cast Agg. 512 (10cm)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'Speed-detection'!$I$5:$I$13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01B-4658-84B5-EE9FED0451B9}"/>
            </c:ext>
          </c:extLst>
        </c:ser>
        <c:ser>
          <c:idx val="8"/>
          <c:order val="8"/>
          <c:tx>
            <c:strRef>
              <c:f>'Speed-detection'!$J$3:$J$4</c:f>
              <c:strCache>
                <c:ptCount val="1"/>
                <c:pt idx="0">
                  <c:v>Ray-Cast Agg. 64 (100cm)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'Speed-detection'!$J$5:$J$13</c:f>
              <c:numCache>
                <c:formatCode>General</c:formatCode>
                <c:ptCount val="8"/>
                <c:pt idx="0">
                  <c:v>0.83333333333333337</c:v>
                </c:pt>
                <c:pt idx="1">
                  <c:v>0.8571428571428571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01B-4658-84B5-EE9FED0451B9}"/>
            </c:ext>
          </c:extLst>
        </c:ser>
        <c:ser>
          <c:idx val="9"/>
          <c:order val="9"/>
          <c:tx>
            <c:strRef>
              <c:f>'Speed-detection'!$K$3:$K$4</c:f>
              <c:strCache>
                <c:ptCount val="1"/>
                <c:pt idx="0">
                  <c:v>Ray-Cast Agg. 64 (10cm)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'Speed-detection'!$A$5:$A$13</c:f>
              <c:strCach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</c:strCache>
            </c:strRef>
          </c:cat>
          <c:val>
            <c:numRef>
              <c:f>'Speed-detection'!$K$5:$K$13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01B-4658-84B5-EE9FED045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4013455"/>
        <c:axId val="1814014415"/>
      </c:lineChart>
      <c:catAx>
        <c:axId val="1814013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Лінійна швидкість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014415"/>
        <c:crosses val="autoZero"/>
        <c:auto val="1"/>
        <c:lblAlgn val="ctr"/>
        <c:lblOffset val="100"/>
        <c:noMultiLvlLbl val="0"/>
      </c:catAx>
      <c:valAx>
        <c:axId val="181401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Виявлені колізії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013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715986354821377"/>
          <c:y val="4.4779090113735792E-2"/>
          <c:w val="0.31800334119956075"/>
          <c:h val="0.947478492271799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25400" cap="flat" cmpd="sng" algn="ctr">
      <a:solidFill>
        <a:schemeClr val="accent3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[фдд.csv]Speed-detection!PivotTable8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uk-UA"/>
              <a:t>Коефіцієнт виявлених колізій</a:t>
            </a:r>
            <a:br>
              <a:rPr lang="uk-UA"/>
            </a:br>
            <a:r>
              <a:rPr lang="uk-UA"/>
              <a:t>від кутової швидкості</a:t>
            </a:r>
            <a:endParaRPr lang="en-US"/>
          </a:p>
        </c:rich>
      </c:tx>
      <c:layout>
        <c:manualLayout>
          <c:xMode val="edge"/>
          <c:yMode val="edge"/>
          <c:x val="0.18805896399671587"/>
          <c:y val="3.28060325270003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percentStacked"/>
        <c:varyColors val="0"/>
        <c:ser>
          <c:idx val="0"/>
          <c:order val="0"/>
          <c:tx>
            <c:strRef>
              <c:f>'Speed-detection'!$J$17:$J$18</c:f>
              <c:strCache>
                <c:ptCount val="1"/>
                <c:pt idx="0">
                  <c:v>CA 100 (100cm)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'Speed-detection'!$J$19:$J$26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0F-4DCE-BC1C-9C7D6D5E73E7}"/>
            </c:ext>
          </c:extLst>
        </c:ser>
        <c:ser>
          <c:idx val="1"/>
          <c:order val="1"/>
          <c:tx>
            <c:strRef>
              <c:f>'Speed-detection'!$K$17:$K$18</c:f>
              <c:strCache>
                <c:ptCount val="1"/>
                <c:pt idx="0">
                  <c:v>CA 100 (10cm)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'Speed-detection'!$K$19:$K$26</c:f>
              <c:numCache>
                <c:formatCode>General</c:formatCode>
                <c:ptCount val="7"/>
                <c:pt idx="0">
                  <c:v>4</c:v>
                </c:pt>
                <c:pt idx="1">
                  <c:v>8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F-4DCE-BC1C-9C7D6D5E73E7}"/>
            </c:ext>
          </c:extLst>
        </c:ser>
        <c:ser>
          <c:idx val="2"/>
          <c:order val="2"/>
          <c:tx>
            <c:strRef>
              <c:f>'Speed-detection'!$L$17:$L$18</c:f>
              <c:strCache>
                <c:ptCount val="1"/>
                <c:pt idx="0">
                  <c:v>CA 15 (100cm)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'Speed-detection'!$L$19:$L$26</c:f>
              <c:numCache>
                <c:formatCode>General</c:formatCode>
                <c:ptCount val="7"/>
                <c:pt idx="0">
                  <c:v>3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30F-4DCE-BC1C-9C7D6D5E73E7}"/>
            </c:ext>
          </c:extLst>
        </c:ser>
        <c:ser>
          <c:idx val="3"/>
          <c:order val="3"/>
          <c:tx>
            <c:strRef>
              <c:f>'Speed-detection'!$M$17:$M$18</c:f>
              <c:strCache>
                <c:ptCount val="1"/>
                <c:pt idx="0">
                  <c:v>CA 15 (10cm)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'Speed-detection'!$M$19:$M$26</c:f>
              <c:numCache>
                <c:formatCode>General</c:formatCode>
                <c:ptCount val="7"/>
                <c:pt idx="0">
                  <c:v>2</c:v>
                </c:pt>
                <c:pt idx="1">
                  <c:v>8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30F-4DCE-BC1C-9C7D6D5E73E7}"/>
            </c:ext>
          </c:extLst>
        </c:ser>
        <c:ser>
          <c:idx val="4"/>
          <c:order val="4"/>
          <c:tx>
            <c:strRef>
              <c:f>'Speed-detection'!$N$17:$N$18</c:f>
              <c:strCache>
                <c:ptCount val="1"/>
                <c:pt idx="0">
                  <c:v>Discrete (100cm)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'Speed-detection'!$N$19:$N$26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30F-4DCE-BC1C-9C7D6D5E73E7}"/>
            </c:ext>
          </c:extLst>
        </c:ser>
        <c:ser>
          <c:idx val="5"/>
          <c:order val="5"/>
          <c:tx>
            <c:strRef>
              <c:f>'Speed-detection'!$O$17:$O$18</c:f>
              <c:strCache>
                <c:ptCount val="1"/>
                <c:pt idx="0">
                  <c:v>Discrete (10cm)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'Speed-detection'!$O$19:$O$26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30F-4DCE-BC1C-9C7D6D5E73E7}"/>
            </c:ext>
          </c:extLst>
        </c:ser>
        <c:ser>
          <c:idx val="6"/>
          <c:order val="6"/>
          <c:tx>
            <c:strRef>
              <c:f>'Speed-detection'!$P$17:$P$18</c:f>
              <c:strCache>
                <c:ptCount val="1"/>
                <c:pt idx="0">
                  <c:v>Ray-Cast Agg. 512 (100cm)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'Speed-detection'!$P$19:$P$26</c:f>
              <c:numCache>
                <c:formatCode>General</c:formatCode>
                <c:ptCount val="7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30F-4DCE-BC1C-9C7D6D5E73E7}"/>
            </c:ext>
          </c:extLst>
        </c:ser>
        <c:ser>
          <c:idx val="7"/>
          <c:order val="7"/>
          <c:tx>
            <c:strRef>
              <c:f>'Speed-detection'!$Q$17:$Q$18</c:f>
              <c:strCache>
                <c:ptCount val="1"/>
                <c:pt idx="0">
                  <c:v>Ray-Cast Agg. 512 (10cm)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'Speed-detection'!$Q$19:$Q$26</c:f>
              <c:numCache>
                <c:formatCode>General</c:formatCode>
                <c:ptCount val="7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30F-4DCE-BC1C-9C7D6D5E73E7}"/>
            </c:ext>
          </c:extLst>
        </c:ser>
        <c:ser>
          <c:idx val="8"/>
          <c:order val="8"/>
          <c:tx>
            <c:strRef>
              <c:f>'Speed-detection'!$R$17:$R$18</c:f>
              <c:strCache>
                <c:ptCount val="1"/>
                <c:pt idx="0">
                  <c:v>Ray-Cast Agg. 64 (100cm)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'Speed-detection'!$R$19:$R$26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30F-4DCE-BC1C-9C7D6D5E73E7}"/>
            </c:ext>
          </c:extLst>
        </c:ser>
        <c:ser>
          <c:idx val="9"/>
          <c:order val="9"/>
          <c:tx>
            <c:strRef>
              <c:f>'Speed-detection'!$S$17:$S$18</c:f>
              <c:strCache>
                <c:ptCount val="1"/>
                <c:pt idx="0">
                  <c:v>Ray-Cast Agg. 64 (10cm)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strRef>
              <c:f>'Speed-detection'!$I$19:$I$26</c:f>
              <c:strCache>
                <c:ptCount val="7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</c:strCache>
            </c:strRef>
          </c:cat>
          <c:val>
            <c:numRef>
              <c:f>'Speed-detection'!$S$19:$S$26</c:f>
              <c:numCache>
                <c:formatCode>General</c:formatCode>
                <c:ptCount val="7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30F-4DCE-BC1C-9C7D6D5E73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8001919"/>
        <c:axId val="1868004799"/>
      </c:lineChart>
      <c:catAx>
        <c:axId val="1868001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Кутова швидкість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004799"/>
        <c:crosses val="autoZero"/>
        <c:auto val="1"/>
        <c:lblAlgn val="ctr"/>
        <c:lblOffset val="100"/>
        <c:noMultiLvlLbl val="0"/>
      </c:catAx>
      <c:valAx>
        <c:axId val="1868004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Виявлені колізії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00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852628845422593"/>
          <c:y val="6.3875765529308834E-2"/>
          <c:w val="0.28380586702280591"/>
          <c:h val="0.886136993292505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25400" cap="flat" cmpd="sng" algn="ctr">
      <a:solidFill>
        <a:schemeClr val="accent3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[фдд.csv]Speed-detection!PivotTable12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uk-UA"/>
              <a:t>Залежність часу виконання</a:t>
            </a:r>
            <a:br>
              <a:rPr lang="uk-UA"/>
            </a:br>
            <a:r>
              <a:rPr lang="uk-UA"/>
              <a:t>від методу детекції</a:t>
            </a:r>
            <a:endParaRPr lang="en-US"/>
          </a:p>
        </c:rich>
      </c:tx>
      <c:layout>
        <c:manualLayout>
          <c:xMode val="edge"/>
          <c:yMode val="edge"/>
          <c:x val="0.11422190146450939"/>
          <c:y val="5.72861229542562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'Speed-detection'!$Q$96:$Q$97</c:f>
              <c:strCache>
                <c:ptCount val="1"/>
                <c:pt idx="0">
                  <c:v>CA 100 (100cm)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'Speed-detection'!$Q$98</c:f>
              <c:numCache>
                <c:formatCode>General</c:formatCode>
                <c:ptCount val="1"/>
                <c:pt idx="0">
                  <c:v>132.21818545454545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E1-4A67-A098-EAB07B9C6B8F}"/>
            </c:ext>
          </c:extLst>
        </c:ser>
        <c:ser>
          <c:idx val="1"/>
          <c:order val="1"/>
          <c:tx>
            <c:strRef>
              <c:f>'Speed-detection'!$R$96:$R$97</c:f>
              <c:strCache>
                <c:ptCount val="1"/>
                <c:pt idx="0">
                  <c:v>CA 100 (10cm)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'Speed-detection'!$R$98</c:f>
              <c:numCache>
                <c:formatCode>General</c:formatCode>
                <c:ptCount val="1"/>
                <c:pt idx="0">
                  <c:v>24.412729090909078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E1-4A67-A098-EAB07B9C6B8F}"/>
            </c:ext>
          </c:extLst>
        </c:ser>
        <c:ser>
          <c:idx val="2"/>
          <c:order val="2"/>
          <c:tx>
            <c:strRef>
              <c:f>'Speed-detection'!$S$96:$S$97</c:f>
              <c:strCache>
                <c:ptCount val="1"/>
                <c:pt idx="0">
                  <c:v>CA 15 (100cm)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'Speed-detection'!$S$98</c:f>
              <c:numCache>
                <c:formatCode>General</c:formatCode>
                <c:ptCount val="1"/>
                <c:pt idx="0">
                  <c:v>51.398181818181811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E1-4A67-A098-EAB07B9C6B8F}"/>
            </c:ext>
          </c:extLst>
        </c:ser>
        <c:ser>
          <c:idx val="3"/>
          <c:order val="3"/>
          <c:tx>
            <c:strRef>
              <c:f>'Speed-detection'!$T$96:$T$97</c:f>
              <c:strCache>
                <c:ptCount val="1"/>
                <c:pt idx="0">
                  <c:v>CA 15 (10cm)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'Speed-detection'!$T$98</c:f>
              <c:numCache>
                <c:formatCode>General</c:formatCode>
                <c:ptCount val="1"/>
                <c:pt idx="0">
                  <c:v>23.46363818181818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E1-4A67-A098-EAB07B9C6B8F}"/>
            </c:ext>
          </c:extLst>
        </c:ser>
        <c:ser>
          <c:idx val="4"/>
          <c:order val="4"/>
          <c:tx>
            <c:strRef>
              <c:f>'Speed-detection'!$U$96:$U$97</c:f>
              <c:strCache>
                <c:ptCount val="1"/>
                <c:pt idx="0">
                  <c:v>Discrete (100cm)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'Speed-detection'!$U$98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E1-4A67-A098-EAB07B9C6B8F}"/>
            </c:ext>
          </c:extLst>
        </c:ser>
        <c:ser>
          <c:idx val="5"/>
          <c:order val="5"/>
          <c:tx>
            <c:strRef>
              <c:f>'Speed-detection'!$V$96:$V$97</c:f>
              <c:strCache>
                <c:ptCount val="1"/>
                <c:pt idx="0">
                  <c:v>Discrete (10cm)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'Speed-detection'!$V$98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AE1-4A67-A098-EAB07B9C6B8F}"/>
            </c:ext>
          </c:extLst>
        </c:ser>
        <c:ser>
          <c:idx val="6"/>
          <c:order val="6"/>
          <c:tx>
            <c:strRef>
              <c:f>'Speed-detection'!$W$96:$W$97</c:f>
              <c:strCache>
                <c:ptCount val="1"/>
                <c:pt idx="0">
                  <c:v>Ray-Cast Agg. 512 (100cm)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'Speed-detection'!$W$98</c:f>
              <c:numCache>
                <c:formatCode>General</c:formatCode>
                <c:ptCount val="1"/>
                <c:pt idx="0">
                  <c:v>135.39454363636364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1-4A67-A098-EAB07B9C6B8F}"/>
            </c:ext>
          </c:extLst>
        </c:ser>
        <c:ser>
          <c:idx val="7"/>
          <c:order val="7"/>
          <c:tx>
            <c:strRef>
              <c:f>'Speed-detection'!$X$96:$X$97</c:f>
              <c:strCache>
                <c:ptCount val="1"/>
                <c:pt idx="0">
                  <c:v>Ray-Cast Agg. 512 (10cm)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'Speed-detection'!$X$98</c:f>
              <c:numCache>
                <c:formatCode>General</c:formatCode>
                <c:ptCount val="1"/>
                <c:pt idx="0">
                  <c:v>126.15999999999998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AE1-4A67-A098-EAB07B9C6B8F}"/>
            </c:ext>
          </c:extLst>
        </c:ser>
        <c:ser>
          <c:idx val="8"/>
          <c:order val="8"/>
          <c:tx>
            <c:strRef>
              <c:f>'Speed-detection'!$Y$96:$Y$97</c:f>
              <c:strCache>
                <c:ptCount val="1"/>
                <c:pt idx="0">
                  <c:v>Ray-Cast Agg. 64 (100cm)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'Speed-detection'!$Y$98</c:f>
              <c:numCache>
                <c:formatCode>General</c:formatCode>
                <c:ptCount val="1"/>
                <c:pt idx="0">
                  <c:v>25.44545636363636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E1-4A67-A098-EAB07B9C6B8F}"/>
            </c:ext>
          </c:extLst>
        </c:ser>
        <c:ser>
          <c:idx val="9"/>
          <c:order val="9"/>
          <c:tx>
            <c:strRef>
              <c:f>'Speed-detection'!$Z$96:$Z$97</c:f>
              <c:strCache>
                <c:ptCount val="1"/>
                <c:pt idx="0">
                  <c:v>Ray-Cast Agg. 64 (10cm)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'Speed-detection'!$Z$98</c:f>
              <c:numCache>
                <c:formatCode>General</c:formatCode>
                <c:ptCount val="1"/>
                <c:pt idx="0">
                  <c:v>27.438183636363643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AE1-4A67-A098-EAB07B9C6B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9595023"/>
        <c:axId val="1609594543"/>
      </c:barChart>
      <c:catAx>
        <c:axId val="16095950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Метод детекції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594543"/>
        <c:crosses val="autoZero"/>
        <c:auto val="1"/>
        <c:lblAlgn val="ctr"/>
        <c:lblOffset val="100"/>
        <c:noMultiLvlLbl val="0"/>
      </c:catAx>
      <c:valAx>
        <c:axId val="1609594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Час виконання (мс)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595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76447186227704"/>
          <c:y val="5.2676651667350402E-2"/>
          <c:w val="0.31760338520677039"/>
          <c:h val="0.937343269382718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25400" cap="flat" cmpd="sng" algn="ctr">
      <a:solidFill>
        <a:schemeClr val="accent3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[фдд.csv]Speed-detection!PivotTable11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uk-UA" dirty="0"/>
              <a:t>Залежність споживаної </a:t>
            </a:r>
            <a:r>
              <a:rPr lang="uk-UA" dirty="0" err="1"/>
              <a:t>пам</a:t>
            </a:r>
            <a:r>
              <a:rPr lang="en-US" dirty="0"/>
              <a:t>'</a:t>
            </a:r>
            <a:r>
              <a:rPr lang="uk-UA" dirty="0"/>
              <a:t>яті від методу</a:t>
            </a:r>
            <a:r>
              <a:rPr lang="uk-UA" baseline="0" dirty="0"/>
              <a:t> </a:t>
            </a:r>
            <a:r>
              <a:rPr lang="uk-UA" dirty="0" err="1"/>
              <a:t>детекції</a:t>
            </a:r>
            <a:endParaRPr lang="en-US" dirty="0"/>
          </a:p>
        </c:rich>
      </c:tx>
      <c:layout>
        <c:manualLayout>
          <c:xMode val="edge"/>
          <c:yMode val="edge"/>
          <c:x val="3.7660524846454484E-2"/>
          <c:y val="4.99052201808107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'Speed-detection'!$N$78:$N$79</c:f>
              <c:strCache>
                <c:ptCount val="1"/>
                <c:pt idx="0">
                  <c:v>CA 100 (100cm)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'Speed-detection'!$N$80</c:f>
              <c:numCache>
                <c:formatCode>General</c:formatCode>
                <c:ptCount val="1"/>
                <c:pt idx="0">
                  <c:v>7872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E9-41E9-A848-5AB03AB036E1}"/>
            </c:ext>
          </c:extLst>
        </c:ser>
        <c:ser>
          <c:idx val="1"/>
          <c:order val="1"/>
          <c:tx>
            <c:strRef>
              <c:f>'Speed-detection'!$O$78:$O$79</c:f>
              <c:strCache>
                <c:ptCount val="1"/>
                <c:pt idx="0">
                  <c:v>CA 100 (10cm)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'Speed-detection'!$O$80</c:f>
              <c:numCache>
                <c:formatCode>General</c:formatCode>
                <c:ptCount val="1"/>
                <c:pt idx="0">
                  <c:v>7032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E9-41E9-A848-5AB03AB036E1}"/>
            </c:ext>
          </c:extLst>
        </c:ser>
        <c:ser>
          <c:idx val="2"/>
          <c:order val="2"/>
          <c:tx>
            <c:strRef>
              <c:f>'Speed-detection'!$P$78:$P$79</c:f>
              <c:strCache>
                <c:ptCount val="1"/>
                <c:pt idx="0">
                  <c:v>CA 15 (100cm)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'Speed-detection'!$P$80</c:f>
              <c:numCache>
                <c:formatCode>General</c:formatCode>
                <c:ptCount val="1"/>
                <c:pt idx="0">
                  <c:v>7872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E9-41E9-A848-5AB03AB036E1}"/>
            </c:ext>
          </c:extLst>
        </c:ser>
        <c:ser>
          <c:idx val="3"/>
          <c:order val="3"/>
          <c:tx>
            <c:strRef>
              <c:f>'Speed-detection'!$Q$78:$Q$79</c:f>
              <c:strCache>
                <c:ptCount val="1"/>
                <c:pt idx="0">
                  <c:v>CA 15 (10cm)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'Speed-detection'!$Q$80</c:f>
              <c:numCache>
                <c:formatCode>General</c:formatCode>
                <c:ptCount val="1"/>
                <c:pt idx="0">
                  <c:v>7032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4E9-41E9-A848-5AB03AB036E1}"/>
            </c:ext>
          </c:extLst>
        </c:ser>
        <c:ser>
          <c:idx val="4"/>
          <c:order val="4"/>
          <c:tx>
            <c:strRef>
              <c:f>'Speed-detection'!$R$78:$R$79</c:f>
              <c:strCache>
                <c:ptCount val="1"/>
                <c:pt idx="0">
                  <c:v>Discrete (100cm)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'Speed-detection'!$R$80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E9-41E9-A848-5AB03AB036E1}"/>
            </c:ext>
          </c:extLst>
        </c:ser>
        <c:ser>
          <c:idx val="5"/>
          <c:order val="5"/>
          <c:tx>
            <c:strRef>
              <c:f>'Speed-detection'!$S$78:$S$79</c:f>
              <c:strCache>
                <c:ptCount val="1"/>
                <c:pt idx="0">
                  <c:v>Discrete (10cm)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'Speed-detection'!$S$80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4E9-41E9-A848-5AB03AB036E1}"/>
            </c:ext>
          </c:extLst>
        </c:ser>
        <c:ser>
          <c:idx val="6"/>
          <c:order val="6"/>
          <c:tx>
            <c:strRef>
              <c:f>'Speed-detection'!$T$78:$T$79</c:f>
              <c:strCache>
                <c:ptCount val="1"/>
                <c:pt idx="0">
                  <c:v>Ray-Cast Agg. 512 (100cm)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'Speed-detection'!$T$80</c:f>
              <c:numCache>
                <c:formatCode>General</c:formatCode>
                <c:ptCount val="1"/>
                <c:pt idx="0">
                  <c:v>44816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E9-41E9-A848-5AB03AB036E1}"/>
            </c:ext>
          </c:extLst>
        </c:ser>
        <c:ser>
          <c:idx val="7"/>
          <c:order val="7"/>
          <c:tx>
            <c:strRef>
              <c:f>'Speed-detection'!$U$78:$U$79</c:f>
              <c:strCache>
                <c:ptCount val="1"/>
                <c:pt idx="0">
                  <c:v>Ray-Cast Agg. 512 (10cm)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'Speed-detection'!$U$80</c:f>
              <c:numCache>
                <c:formatCode>General</c:formatCode>
                <c:ptCount val="1"/>
                <c:pt idx="0">
                  <c:v>44816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4E9-41E9-A848-5AB03AB036E1}"/>
            </c:ext>
          </c:extLst>
        </c:ser>
        <c:ser>
          <c:idx val="8"/>
          <c:order val="8"/>
          <c:tx>
            <c:strRef>
              <c:f>'Speed-detection'!$V$78:$V$79</c:f>
              <c:strCache>
                <c:ptCount val="1"/>
                <c:pt idx="0">
                  <c:v>Ray-Cast Agg. 64 (100cm)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'Speed-detection'!$V$80</c:f>
              <c:numCache>
                <c:formatCode>General</c:formatCode>
                <c:ptCount val="1"/>
                <c:pt idx="0">
                  <c:v>10768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E9-41E9-A848-5AB03AB036E1}"/>
            </c:ext>
          </c:extLst>
        </c:ser>
        <c:ser>
          <c:idx val="9"/>
          <c:order val="9"/>
          <c:tx>
            <c:strRef>
              <c:f>'Speed-detection'!$W$78:$W$79</c:f>
              <c:strCache>
                <c:ptCount val="1"/>
                <c:pt idx="0">
                  <c:v>Ray-Cast Agg. 64 (10cm)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'Speed-detection'!$M$80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'Speed-detection'!$W$80</c:f>
              <c:numCache>
                <c:formatCode>General</c:formatCode>
                <c:ptCount val="1"/>
                <c:pt idx="0">
                  <c:v>10768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4E9-41E9-A848-5AB03AB03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99574495"/>
        <c:axId val="1599575455"/>
      </c:barChart>
      <c:catAx>
        <c:axId val="15995744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Метод детекції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9575455"/>
        <c:crosses val="autoZero"/>
        <c:auto val="1"/>
        <c:lblAlgn val="ctr"/>
        <c:lblOffset val="100"/>
        <c:noMultiLvlLbl val="0"/>
      </c:catAx>
      <c:valAx>
        <c:axId val="159957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Споживана пам</a:t>
                </a:r>
                <a:r>
                  <a:rPr lang="en-US"/>
                  <a:t>'</a:t>
                </a:r>
                <a:r>
                  <a:rPr lang="uk-UA"/>
                  <a:t>яь (байт)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9574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481487686379628"/>
          <c:y val="0.16921041119860017"/>
          <c:w val="0.28998755474714599"/>
          <c:h val="0.825330635753864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25400" cap="flat" cmpd="sng" algn="ctr">
      <a:solidFill>
        <a:schemeClr val="accent3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[фдд.csv]Speed-detection!PivotTable12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uk-UA"/>
              <a:t>Залежність часу виконання</a:t>
            </a:r>
            <a:br>
              <a:rPr lang="uk-UA"/>
            </a:br>
            <a:r>
              <a:rPr lang="uk-UA"/>
              <a:t>від методу детекції</a:t>
            </a:r>
            <a:endParaRPr lang="en-US"/>
          </a:p>
        </c:rich>
      </c:tx>
      <c:layout>
        <c:manualLayout>
          <c:xMode val="edge"/>
          <c:yMode val="edge"/>
          <c:x val="6.5500829600928387E-2"/>
          <c:y val="5.30814189486472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'Speed-detection'!$Q$96:$Q$97</c:f>
              <c:strCache>
                <c:ptCount val="1"/>
                <c:pt idx="0">
                  <c:v>CA 100 (100cm)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'Speed-detection'!$Q$98</c:f>
              <c:numCache>
                <c:formatCode>General</c:formatCode>
                <c:ptCount val="1"/>
                <c:pt idx="0">
                  <c:v>132.21818545454545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4-4FD3-87F1-E1B5103B1B40}"/>
            </c:ext>
          </c:extLst>
        </c:ser>
        <c:ser>
          <c:idx val="1"/>
          <c:order val="1"/>
          <c:tx>
            <c:strRef>
              <c:f>'Speed-detection'!$R$96:$R$97</c:f>
              <c:strCache>
                <c:ptCount val="1"/>
                <c:pt idx="0">
                  <c:v>CA 100 (10cm)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'Speed-detection'!$R$98</c:f>
              <c:numCache>
                <c:formatCode>General</c:formatCode>
                <c:ptCount val="1"/>
                <c:pt idx="0">
                  <c:v>24.412729090909078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34-4FD3-87F1-E1B5103B1B40}"/>
            </c:ext>
          </c:extLst>
        </c:ser>
        <c:ser>
          <c:idx val="2"/>
          <c:order val="2"/>
          <c:tx>
            <c:strRef>
              <c:f>'Speed-detection'!$S$96:$S$97</c:f>
              <c:strCache>
                <c:ptCount val="1"/>
                <c:pt idx="0">
                  <c:v>CA 15 (100cm)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'Speed-detection'!$S$98</c:f>
              <c:numCache>
                <c:formatCode>General</c:formatCode>
                <c:ptCount val="1"/>
                <c:pt idx="0">
                  <c:v>51.398181818181811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34-4FD3-87F1-E1B5103B1B40}"/>
            </c:ext>
          </c:extLst>
        </c:ser>
        <c:ser>
          <c:idx val="3"/>
          <c:order val="3"/>
          <c:tx>
            <c:strRef>
              <c:f>'Speed-detection'!$T$96:$T$97</c:f>
              <c:strCache>
                <c:ptCount val="1"/>
                <c:pt idx="0">
                  <c:v>CA 15 (10cm)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'Speed-detection'!$T$98</c:f>
              <c:numCache>
                <c:formatCode>General</c:formatCode>
                <c:ptCount val="1"/>
                <c:pt idx="0">
                  <c:v>23.46363818181818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34-4FD3-87F1-E1B5103B1B40}"/>
            </c:ext>
          </c:extLst>
        </c:ser>
        <c:ser>
          <c:idx val="4"/>
          <c:order val="4"/>
          <c:tx>
            <c:strRef>
              <c:f>'Speed-detection'!$U$96:$U$97</c:f>
              <c:strCache>
                <c:ptCount val="1"/>
                <c:pt idx="0">
                  <c:v>Discrete (100cm)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'Speed-detection'!$U$98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34-4FD3-87F1-E1B5103B1B40}"/>
            </c:ext>
          </c:extLst>
        </c:ser>
        <c:ser>
          <c:idx val="5"/>
          <c:order val="5"/>
          <c:tx>
            <c:strRef>
              <c:f>'Speed-detection'!$V$96:$V$97</c:f>
              <c:strCache>
                <c:ptCount val="1"/>
                <c:pt idx="0">
                  <c:v>Discrete (10cm)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'Speed-detection'!$V$98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234-4FD3-87F1-E1B5103B1B40}"/>
            </c:ext>
          </c:extLst>
        </c:ser>
        <c:ser>
          <c:idx val="6"/>
          <c:order val="6"/>
          <c:tx>
            <c:strRef>
              <c:f>'Speed-detection'!$W$96:$W$97</c:f>
              <c:strCache>
                <c:ptCount val="1"/>
                <c:pt idx="0">
                  <c:v>Ray-Cast Agg. 512 (100cm)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'Speed-detection'!$W$98</c:f>
              <c:numCache>
                <c:formatCode>General</c:formatCode>
                <c:ptCount val="1"/>
                <c:pt idx="0">
                  <c:v>135.39454363636364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34-4FD3-87F1-E1B5103B1B40}"/>
            </c:ext>
          </c:extLst>
        </c:ser>
        <c:ser>
          <c:idx val="7"/>
          <c:order val="7"/>
          <c:tx>
            <c:strRef>
              <c:f>'Speed-detection'!$X$96:$X$97</c:f>
              <c:strCache>
                <c:ptCount val="1"/>
                <c:pt idx="0">
                  <c:v>Ray-Cast Agg. 512 (10cm)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'Speed-detection'!$X$98</c:f>
              <c:numCache>
                <c:formatCode>General</c:formatCode>
                <c:ptCount val="1"/>
                <c:pt idx="0">
                  <c:v>126.15999999999998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234-4FD3-87F1-E1B5103B1B40}"/>
            </c:ext>
          </c:extLst>
        </c:ser>
        <c:ser>
          <c:idx val="8"/>
          <c:order val="8"/>
          <c:tx>
            <c:strRef>
              <c:f>'Speed-detection'!$Y$96:$Y$97</c:f>
              <c:strCache>
                <c:ptCount val="1"/>
                <c:pt idx="0">
                  <c:v>Ray-Cast Agg. 64 (100cm)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'Speed-detection'!$Y$98</c:f>
              <c:numCache>
                <c:formatCode>General</c:formatCode>
                <c:ptCount val="1"/>
                <c:pt idx="0">
                  <c:v>25.44545636363636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234-4FD3-87F1-E1B5103B1B40}"/>
            </c:ext>
          </c:extLst>
        </c:ser>
        <c:ser>
          <c:idx val="9"/>
          <c:order val="9"/>
          <c:tx>
            <c:strRef>
              <c:f>'Speed-detection'!$Z$96:$Z$97</c:f>
              <c:strCache>
                <c:ptCount val="1"/>
                <c:pt idx="0">
                  <c:v>Ray-Cast Agg. 64 (10cm)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'Speed-detection'!$P$98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'Speed-detection'!$Z$98</c:f>
              <c:numCache>
                <c:formatCode>General</c:formatCode>
                <c:ptCount val="1"/>
                <c:pt idx="0">
                  <c:v>27.438183636363643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234-4FD3-87F1-E1B5103B1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9595023"/>
        <c:axId val="1609594543"/>
      </c:barChart>
      <c:catAx>
        <c:axId val="16095950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Метод детекції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594543"/>
        <c:crosses val="autoZero"/>
        <c:auto val="1"/>
        <c:lblAlgn val="ctr"/>
        <c:lblOffset val="100"/>
        <c:noMultiLvlLbl val="0"/>
      </c:catAx>
      <c:valAx>
        <c:axId val="1609594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/>
                  <a:t>Час виконання (мс)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595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76447186227704"/>
          <c:y val="5.2676651667350402E-2"/>
          <c:w val="0.31760338520677039"/>
          <c:h val="0.937343269382718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25400" cap="flat" cmpd="sng" algn="ctr">
      <a:solidFill>
        <a:schemeClr val="accent3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ACA56478-67AC-5E45-B73C-540D3D46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>
            <a:extLst>
              <a:ext uri="{FF2B5EF4-FFF2-40B4-BE49-F238E27FC236}">
                <a16:creationId xmlns:a16="http://schemas.microsoft.com/office/drawing/2014/main" id="{5E0F57EB-F6FC-4FA8-1A9E-BD4FF32B37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>
            <a:extLst>
              <a:ext uri="{FF2B5EF4-FFF2-40B4-BE49-F238E27FC236}">
                <a16:creationId xmlns:a16="http://schemas.microsoft.com/office/drawing/2014/main" id="{3706D36A-9471-B7CC-CF77-795845D12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04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78F9306-D87B-D751-9803-14886310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8784A1B2-B87F-C534-32D7-D443BDCAC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C3D8347-9260-E587-E16E-F2F42CDE8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50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126719"/>
            <a:ext cx="1158144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9977"/>
              </a:lnSpc>
            </a:pP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Дослідження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методів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збільшення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точності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виявлення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3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колізій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під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час </a:t>
            </a:r>
            <a:r>
              <a:rPr lang="ru-RU" sz="360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швидких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анімацій</a:t>
            </a:r>
            <a:r>
              <a:rPr lang="ru-RU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у </a:t>
            </a:r>
            <a:r>
              <a:rPr lang="ru-RU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відеоіграх</a:t>
            </a:r>
            <a:endParaRPr sz="36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889027"/>
            <a:ext cx="110301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Виконав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студент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гр</a:t>
            </a:r>
            <a:r>
              <a:rPr lang="en-US" sz="18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ю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ІПЗ</a:t>
            </a:r>
            <a:r>
              <a:rPr lang="en-US" sz="18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м-24-3 </a:t>
            </a:r>
            <a:r>
              <a:rPr lang="en-US" sz="180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Черепко</a:t>
            </a:r>
            <a:r>
              <a:rPr lang="en-US" sz="18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Є.Ю.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Науковий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к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ерівник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проф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Шубін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І.Ю.</a:t>
            </a:r>
            <a:endParaRPr lang="uk-UA" sz="18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 algn="ctr">
              <a:lnSpc>
                <a:spcPct val="140000"/>
              </a:lnSpc>
            </a:pPr>
            <a:r>
              <a:rPr lang="uk-UA" sz="18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Спеціальність: </a:t>
            </a:r>
            <a:r>
              <a:rPr lang="uk-UA" sz="18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121 — Інженерія програмного забезпечення</a:t>
            </a:r>
            <a:endParaRPr sz="18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60118"/>
            <a:ext cx="110301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Харківський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національний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університет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радіоелектроніки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Кафедра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програмної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інженерії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C38E0535-B8A3-3ED1-EFC6-7591499F07D9}"/>
              </a:ext>
            </a:extLst>
          </p:cNvPr>
          <p:cNvSpPr txBox="1"/>
          <p:nvPr/>
        </p:nvSpPr>
        <p:spPr>
          <a:xfrm>
            <a:off x="580949" y="6071086"/>
            <a:ext cx="110301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uk-UA" sz="1800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Харків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—</a:t>
            </a:r>
            <a:r>
              <a:rPr lang="uk-UA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uk-UA" sz="1800" dirty="0">
                <a:solidFill>
                  <a:schemeClr val="bg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52600"/>
            <a:ext cx="5419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752600"/>
            <a:ext cx="5419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90975"/>
            <a:ext cx="5419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990975"/>
            <a:ext cx="541972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76300" y="2047875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Актуальність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2514600"/>
            <a:ext cx="48291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Експоненційне зростання складності віртуальних середовищ та вимог до реалістичності фізичної взаємодії у Slasher/Action іграх.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86525" y="2047875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Проблема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86525" y="2514600"/>
            <a:ext cx="48291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Критичні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помилки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реєстрації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контакту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uk-UA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через 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«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ефект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тунелювання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»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при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високих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кутових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лінійних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швидкостях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об’єктів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428625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Об’єкт дослідження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4752975"/>
            <a:ext cx="48291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роцес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виявлення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та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обробки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3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колізій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у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відеоіграх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забезпечення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високої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точності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визначення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зіткнень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при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швидкому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русі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та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обмеженних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апаратних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ресурсах.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486525" y="428625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Напрям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86525" y="4752975"/>
            <a:ext cx="48291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Перехід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від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дискретної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(DCD)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неперервної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(CCD)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детекції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з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використанням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апаратних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оптимізацій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Актуальність та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Об’єкт</a:t>
            </a: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Дослідження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1225" y="2733675"/>
            <a:ext cx="56197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286500" y="3028950"/>
            <a:ext cx="52806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Виявлені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прогалини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286500" y="3495675"/>
            <a:ext cx="50292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Більшість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методів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CCD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або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занадто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ресурсоємні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випуклих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тіл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або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мають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нестабільну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продуктивність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зокрема 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«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ефект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Зенона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».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Відсутність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адаптивних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рішень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ігрових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рушіїв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2886075"/>
            <a:ext cx="46958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C. Ericson: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Фундаментальна теорія дискретної детекції (GJK, SAT).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3609975"/>
            <a:ext cx="46958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B. Wang: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Аналіз надійності CCD алгоритмів та проблеми похибок плаваючої коми.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14400" y="4333875"/>
            <a:ext cx="46958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S. Sui (2025):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Апаратне прискорення CCD на GPU за допомогою RT-ядер.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288607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360997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433387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Огляд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Літератури</a:t>
            </a: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та Аналогів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2181225"/>
            <a:ext cx="5314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Проблема: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Об'єкт долає відстань, що перевищує його розміри, за 1 кадр (16.6 мс).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14400" y="2905125"/>
            <a:ext cx="4981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Усунення ефекту тунелювання (K_tunnel → 0).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14400" y="3362325"/>
            <a:ext cx="4981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Забезпечення стабільного бюджету кадру (20-30 мкс).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14400" y="3819525"/>
            <a:ext cx="4981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Створення прототипу підсистеми для Unreal Engine 5.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4400" y="4276725"/>
            <a:ext cx="49815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Математична формалізація адаптивної агрегації променів.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290512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336232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81025" y="381952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427672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Постановка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Задачі</a:t>
            </a:r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0D2F1C3-77EF-7F87-5134-C2A3083A0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748" y="1643063"/>
            <a:ext cx="5031346" cy="3705224"/>
          </a:xfrm>
          <a:prstGeom prst="roundRect">
            <a:avLst/>
          </a:prstGeom>
          <a:ln>
            <a:solidFill>
              <a:srgbClr val="DEFF9A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7925"/>
            <a:ext cx="35495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447925"/>
            <a:ext cx="354969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447925"/>
            <a:ext cx="35495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12925" y="27432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02324" y="3314700"/>
            <a:ext cx="31069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Математичне моделювання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76300" y="4057650"/>
            <a:ext cx="2959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Використання сфери Фібоначчі для рівномірної дискретизації траєкторії.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4542372" y="3314700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SIMD Оптимізація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16350" y="3781425"/>
            <a:ext cx="29591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Паралельна обробка 8 променів за допомогою AVX2 інструкцій (256-біт).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550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282575" y="3314700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Експеримент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356550" y="3781425"/>
            <a:ext cx="2959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Автоматизоване порівняння DCD, CA та розробленого методу Ray-Cast Aggregation.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Методологія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Дослідження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81025" y="1047750"/>
            <a:ext cx="519064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Архітектура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Системи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81025" y="2171700"/>
            <a:ext cx="4943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Декомпозиція на ключові компоненти: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14400" y="2781300"/>
            <a:ext cx="4610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UAdvancedCollisionComponent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Інтеграція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з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TG_PrePhysics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рушія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914400" y="3505200"/>
            <a:ext cx="4610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FCollisionAggregator: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SIMD-ядро для пакетної обробки променів.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14400" y="4229100"/>
            <a:ext cx="4610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FSimdRayBatch: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Data-Oriented структура (SoA) з вирівнюванням 32 байт.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14400" y="4953000"/>
            <a:ext cx="4610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FCollisionTelemetryLogger: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Асинхронний запис метрик.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81025" y="2781300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81025" y="3505200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81025" y="4229100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4953000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4E1C0-5604-CB66-955F-9580EE19C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28" y="965200"/>
            <a:ext cx="6124267" cy="4927600"/>
          </a:xfrm>
          <a:prstGeom prst="roundRect">
            <a:avLst>
              <a:gd name="adj" fmla="val 2381"/>
            </a:avLst>
          </a:prstGeom>
          <a:ln>
            <a:solidFill>
              <a:srgbClr val="DEFF9A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914400" y="2779443"/>
            <a:ext cx="6981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Unreal Engine 5.7: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Базове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середовище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Chaos Physics.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914400" y="3236643"/>
            <a:ext cx="6981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C++ 20: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Нативна реалізація алгоритмів для максимальної швидкодії.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14400" y="3693843"/>
            <a:ext cx="6981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AVX2 Intrinsic functions: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Пряме управління регістрами процесора.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14400" y="4151043"/>
            <a:ext cx="69818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Visual Studio 2026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розробки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та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компіляція</a:t>
            </a:r>
            <a:endParaRPr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581025" y="2779443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3236643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3693843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81025" y="4151043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Інструментарій</a:t>
            </a: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Розробки</a:t>
            </a:r>
            <a:endParaRPr dirty="0"/>
          </a:p>
        </p:txBody>
      </p:sp>
      <p:sp>
        <p:nvSpPr>
          <p:cNvPr id="2" name="Google Shape;179;p19">
            <a:extLst>
              <a:ext uri="{FF2B5EF4-FFF2-40B4-BE49-F238E27FC236}">
                <a16:creationId xmlns:a16="http://schemas.microsoft.com/office/drawing/2014/main" id="{07BDB69C-6466-1A05-1577-A94AF2688E78}"/>
              </a:ext>
            </a:extLst>
          </p:cNvPr>
          <p:cNvSpPr txBox="1"/>
          <p:nvPr/>
        </p:nvSpPr>
        <p:spPr>
          <a:xfrm>
            <a:off x="581025" y="2204319"/>
            <a:ext cx="69818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Технічний стек</a:t>
            </a:r>
            <a:endParaRPr sz="2400" b="1" dirty="0">
              <a:solidFill>
                <a:srgbClr val="DEFF9A"/>
              </a:solidFill>
            </a:endParaRPr>
          </a:p>
        </p:txBody>
      </p:sp>
      <p:sp>
        <p:nvSpPr>
          <p:cNvPr id="3" name="Google Shape;179;p19">
            <a:extLst>
              <a:ext uri="{FF2B5EF4-FFF2-40B4-BE49-F238E27FC236}">
                <a16:creationId xmlns:a16="http://schemas.microsoft.com/office/drawing/2014/main" id="{F8C5FF0A-6648-867E-6DD2-9BAB5B6FDFF0}"/>
              </a:ext>
            </a:extLst>
          </p:cNvPr>
          <p:cNvSpPr txBox="1"/>
          <p:nvPr/>
        </p:nvSpPr>
        <p:spPr>
          <a:xfrm>
            <a:off x="7234777" y="2586676"/>
            <a:ext cx="69818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Підготовка </a:t>
            </a:r>
            <a:r>
              <a:rPr lang="uk-UA" sz="150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проекту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та сцени</a:t>
            </a:r>
            <a:endParaRPr dirty="0"/>
          </a:p>
        </p:txBody>
      </p:sp>
      <p:sp>
        <p:nvSpPr>
          <p:cNvPr id="4" name="Google Shape;180;p19">
            <a:extLst>
              <a:ext uri="{FF2B5EF4-FFF2-40B4-BE49-F238E27FC236}">
                <a16:creationId xmlns:a16="http://schemas.microsoft.com/office/drawing/2014/main" id="{95739A2E-AA7D-3FF7-7C41-04D265D71FDE}"/>
              </a:ext>
            </a:extLst>
          </p:cNvPr>
          <p:cNvSpPr txBox="1"/>
          <p:nvPr/>
        </p:nvSpPr>
        <p:spPr>
          <a:xfrm>
            <a:off x="7234777" y="3043876"/>
            <a:ext cx="69818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Реалізація центральної компоненти системи</a:t>
            </a:r>
            <a:endParaRPr dirty="0"/>
          </a:p>
        </p:txBody>
      </p:sp>
      <p:sp>
        <p:nvSpPr>
          <p:cNvPr id="5" name="Google Shape;181;p19">
            <a:extLst>
              <a:ext uri="{FF2B5EF4-FFF2-40B4-BE49-F238E27FC236}">
                <a16:creationId xmlns:a16="http://schemas.microsoft.com/office/drawing/2014/main" id="{F13E82F0-110D-1261-948C-0A8B7BA3D68F}"/>
              </a:ext>
            </a:extLst>
          </p:cNvPr>
          <p:cNvSpPr txBox="1"/>
          <p:nvPr/>
        </p:nvSpPr>
        <p:spPr>
          <a:xfrm>
            <a:off x="7234777" y="3501076"/>
            <a:ext cx="69818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Розробк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 обчислювального ядра</a:t>
            </a:r>
            <a:endParaRPr dirty="0"/>
          </a:p>
        </p:txBody>
      </p:sp>
      <p:sp>
        <p:nvSpPr>
          <p:cNvPr id="6" name="Google Shape;182;p19">
            <a:extLst>
              <a:ext uri="{FF2B5EF4-FFF2-40B4-BE49-F238E27FC236}">
                <a16:creationId xmlns:a16="http://schemas.microsoft.com/office/drawing/2014/main" id="{E1F8005A-A806-1B1D-EA05-23F25FC42947}"/>
              </a:ext>
            </a:extLst>
          </p:cNvPr>
          <p:cNvSpPr txBox="1"/>
          <p:nvPr/>
        </p:nvSpPr>
        <p:spPr>
          <a:xfrm>
            <a:off x="7234777" y="3958276"/>
            <a:ext cx="69818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Підготовка модуля перевірок достовірності</a:t>
            </a:r>
            <a:endParaRPr dirty="0"/>
          </a:p>
        </p:txBody>
      </p:sp>
      <p:sp>
        <p:nvSpPr>
          <p:cNvPr id="7" name="Google Shape;183;p19">
            <a:extLst>
              <a:ext uri="{FF2B5EF4-FFF2-40B4-BE49-F238E27FC236}">
                <a16:creationId xmlns:a16="http://schemas.microsoft.com/office/drawing/2014/main" id="{EA613E01-83C1-08D6-7828-1DB17CD7D1BA}"/>
              </a:ext>
            </a:extLst>
          </p:cNvPr>
          <p:cNvSpPr txBox="1"/>
          <p:nvPr/>
        </p:nvSpPr>
        <p:spPr>
          <a:xfrm>
            <a:off x="6901402" y="2586676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8" name="Google Shape;184;p19">
            <a:extLst>
              <a:ext uri="{FF2B5EF4-FFF2-40B4-BE49-F238E27FC236}">
                <a16:creationId xmlns:a16="http://schemas.microsoft.com/office/drawing/2014/main" id="{4F952B0F-2084-F78C-2421-FFD96DC91A5A}"/>
              </a:ext>
            </a:extLst>
          </p:cNvPr>
          <p:cNvSpPr txBox="1"/>
          <p:nvPr/>
        </p:nvSpPr>
        <p:spPr>
          <a:xfrm>
            <a:off x="6901402" y="3043876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9" name="Google Shape;185;p19">
            <a:extLst>
              <a:ext uri="{FF2B5EF4-FFF2-40B4-BE49-F238E27FC236}">
                <a16:creationId xmlns:a16="http://schemas.microsoft.com/office/drawing/2014/main" id="{F777FFF1-FE7B-65BE-C477-A404CD3F0933}"/>
              </a:ext>
            </a:extLst>
          </p:cNvPr>
          <p:cNvSpPr txBox="1"/>
          <p:nvPr/>
        </p:nvSpPr>
        <p:spPr>
          <a:xfrm>
            <a:off x="6901402" y="3501076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" name="Google Shape;186;p19">
            <a:extLst>
              <a:ext uri="{FF2B5EF4-FFF2-40B4-BE49-F238E27FC236}">
                <a16:creationId xmlns:a16="http://schemas.microsoft.com/office/drawing/2014/main" id="{2E09EC2D-99D4-2571-8B86-952F5B0DE2E5}"/>
              </a:ext>
            </a:extLst>
          </p:cNvPr>
          <p:cNvSpPr txBox="1"/>
          <p:nvPr/>
        </p:nvSpPr>
        <p:spPr>
          <a:xfrm>
            <a:off x="6901402" y="3958276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" name="Google Shape;179;p19">
            <a:extLst>
              <a:ext uri="{FF2B5EF4-FFF2-40B4-BE49-F238E27FC236}">
                <a16:creationId xmlns:a16="http://schemas.microsoft.com/office/drawing/2014/main" id="{BEEF4467-09DD-9DB7-4C67-08456EA000D5}"/>
              </a:ext>
            </a:extLst>
          </p:cNvPr>
          <p:cNvSpPr txBox="1"/>
          <p:nvPr/>
        </p:nvSpPr>
        <p:spPr>
          <a:xfrm>
            <a:off x="6901402" y="2011552"/>
            <a:ext cx="69818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rgbClr val="DEFF9A"/>
                </a:solidFill>
                <a:ea typeface="Urbanist"/>
                <a:cs typeface="Urbanist"/>
                <a:sym typeface="Urbanist"/>
              </a:rPr>
              <a:t>Етапи розробки</a:t>
            </a:r>
            <a:endParaRPr sz="2400" b="1" dirty="0">
              <a:solidFill>
                <a:srgbClr val="DEFF9A"/>
              </a:solidFill>
            </a:endParaRPr>
          </a:p>
        </p:txBody>
      </p:sp>
      <p:sp>
        <p:nvSpPr>
          <p:cNvPr id="12" name="Google Shape;182;p19">
            <a:extLst>
              <a:ext uri="{FF2B5EF4-FFF2-40B4-BE49-F238E27FC236}">
                <a16:creationId xmlns:a16="http://schemas.microsoft.com/office/drawing/2014/main" id="{3D5DE22E-8296-76C5-F33D-42E24C22F381}"/>
              </a:ext>
            </a:extLst>
          </p:cNvPr>
          <p:cNvSpPr txBox="1"/>
          <p:nvPr/>
        </p:nvSpPr>
        <p:spPr>
          <a:xfrm>
            <a:off x="7234777" y="4415476"/>
            <a:ext cx="69818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5.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Створення інфраструктури для автоматизації тестів</a:t>
            </a:r>
            <a:endParaRPr dirty="0"/>
          </a:p>
        </p:txBody>
      </p:sp>
      <p:sp>
        <p:nvSpPr>
          <p:cNvPr id="13" name="Google Shape;186;p19">
            <a:extLst>
              <a:ext uri="{FF2B5EF4-FFF2-40B4-BE49-F238E27FC236}">
                <a16:creationId xmlns:a16="http://schemas.microsoft.com/office/drawing/2014/main" id="{AE3893B4-856C-2CB6-2E08-6E4DC5E21960}"/>
              </a:ext>
            </a:extLst>
          </p:cNvPr>
          <p:cNvSpPr txBox="1"/>
          <p:nvPr/>
        </p:nvSpPr>
        <p:spPr>
          <a:xfrm>
            <a:off x="6901402" y="4415476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60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Методика проведення</a:t>
            </a: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Експерименту</a:t>
            </a:r>
            <a:endParaRPr dirty="0"/>
          </a:p>
        </p:txBody>
      </p:sp>
      <p:sp>
        <p:nvSpPr>
          <p:cNvPr id="2" name="Google Shape;162;p18">
            <a:extLst>
              <a:ext uri="{FF2B5EF4-FFF2-40B4-BE49-F238E27FC236}">
                <a16:creationId xmlns:a16="http://schemas.microsoft.com/office/drawing/2014/main" id="{7A3F7F83-7156-ADAD-AB54-472981ECBE55}"/>
              </a:ext>
            </a:extLst>
          </p:cNvPr>
          <p:cNvSpPr txBox="1"/>
          <p:nvPr/>
        </p:nvSpPr>
        <p:spPr>
          <a:xfrm>
            <a:off x="581023" y="1552575"/>
            <a:ext cx="49434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Параметри</a:t>
            </a:r>
            <a:endParaRPr sz="2400" b="1" dirty="0">
              <a:solidFill>
                <a:srgbClr val="DEFF9A"/>
              </a:solidFill>
            </a:endParaRPr>
          </a:p>
        </p:txBody>
      </p:sp>
      <p:sp>
        <p:nvSpPr>
          <p:cNvPr id="3" name="Google Shape;164;p18">
            <a:extLst>
              <a:ext uri="{FF2B5EF4-FFF2-40B4-BE49-F238E27FC236}">
                <a16:creationId xmlns:a16="http://schemas.microsoft.com/office/drawing/2014/main" id="{54CE421C-B3BA-3BFB-3659-DFA547E5C448}"/>
              </a:ext>
            </a:extLst>
          </p:cNvPr>
          <p:cNvSpPr txBox="1"/>
          <p:nvPr/>
        </p:nvSpPr>
        <p:spPr>
          <a:xfrm>
            <a:off x="914398" y="2162175"/>
            <a:ext cx="46101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Лінайна</a:t>
            </a:r>
            <a:r>
              <a:rPr lang="uk-UA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швидкість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10 м/с — 150 м/с</a:t>
            </a:r>
          </a:p>
        </p:txBody>
      </p:sp>
      <p:sp>
        <p:nvSpPr>
          <p:cNvPr id="4" name="Google Shape;165;p18">
            <a:extLst>
              <a:ext uri="{FF2B5EF4-FFF2-40B4-BE49-F238E27FC236}">
                <a16:creationId xmlns:a16="http://schemas.microsoft.com/office/drawing/2014/main" id="{309F2BF4-BBC1-4357-D1B7-6C219185A88E}"/>
              </a:ext>
            </a:extLst>
          </p:cNvPr>
          <p:cNvSpPr txBox="1"/>
          <p:nvPr/>
        </p:nvSpPr>
        <p:spPr>
          <a:xfrm>
            <a:off x="914398" y="2577875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Кутова 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швидкість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ru-RU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 рад/с — 120 рад/с</a:t>
            </a:r>
          </a:p>
        </p:txBody>
      </p:sp>
      <p:sp>
        <p:nvSpPr>
          <p:cNvPr id="5" name="Google Shape;166;p18">
            <a:extLst>
              <a:ext uri="{FF2B5EF4-FFF2-40B4-BE49-F238E27FC236}">
                <a16:creationId xmlns:a16="http://schemas.microsoft.com/office/drawing/2014/main" id="{D4E890D6-9A8E-4D9F-91EF-B53D48A2EF49}"/>
              </a:ext>
            </a:extLst>
          </p:cNvPr>
          <p:cNvSpPr txBox="1"/>
          <p:nvPr/>
        </p:nvSpPr>
        <p:spPr>
          <a:xfrm>
            <a:off x="914398" y="3050040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Щільність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променів</a:t>
            </a:r>
            <a:r>
              <a:rPr lang="en-US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64 — 512 </a:t>
            </a: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точок</a:t>
            </a:r>
            <a:endParaRPr lang="ru-RU" sz="1500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" name="Google Shape;168;p18">
            <a:extLst>
              <a:ext uri="{FF2B5EF4-FFF2-40B4-BE49-F238E27FC236}">
                <a16:creationId xmlns:a16="http://schemas.microsoft.com/office/drawing/2014/main" id="{ECBE1277-36A9-F514-B95B-D65431DD8DE6}"/>
              </a:ext>
            </a:extLst>
          </p:cNvPr>
          <p:cNvSpPr txBox="1"/>
          <p:nvPr/>
        </p:nvSpPr>
        <p:spPr>
          <a:xfrm>
            <a:off x="581023" y="216217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8" name="Google Shape;169;p18">
            <a:extLst>
              <a:ext uri="{FF2B5EF4-FFF2-40B4-BE49-F238E27FC236}">
                <a16:creationId xmlns:a16="http://schemas.microsoft.com/office/drawing/2014/main" id="{D5C947BF-337E-2D3D-CEE1-84B1519D6092}"/>
              </a:ext>
            </a:extLst>
          </p:cNvPr>
          <p:cNvSpPr txBox="1"/>
          <p:nvPr/>
        </p:nvSpPr>
        <p:spPr>
          <a:xfrm>
            <a:off x="581023" y="2577875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9" name="Google Shape;170;p18">
            <a:extLst>
              <a:ext uri="{FF2B5EF4-FFF2-40B4-BE49-F238E27FC236}">
                <a16:creationId xmlns:a16="http://schemas.microsoft.com/office/drawing/2014/main" id="{56AB2C14-7DDD-F1E4-6E35-A35175489EEF}"/>
              </a:ext>
            </a:extLst>
          </p:cNvPr>
          <p:cNvSpPr txBox="1"/>
          <p:nvPr/>
        </p:nvSpPr>
        <p:spPr>
          <a:xfrm>
            <a:off x="581023" y="3050040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" name="Google Shape;162;p18">
            <a:extLst>
              <a:ext uri="{FF2B5EF4-FFF2-40B4-BE49-F238E27FC236}">
                <a16:creationId xmlns:a16="http://schemas.microsoft.com/office/drawing/2014/main" id="{D178C1B6-B841-11FA-78B3-FF633A6D4B2A}"/>
              </a:ext>
            </a:extLst>
          </p:cNvPr>
          <p:cNvSpPr txBox="1"/>
          <p:nvPr/>
        </p:nvSpPr>
        <p:spPr>
          <a:xfrm>
            <a:off x="6096000" y="1552575"/>
            <a:ext cx="49434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rgbClr val="DEFF9A"/>
                </a:solidFill>
                <a:ea typeface="Urbanist"/>
                <a:cs typeface="Urbanist"/>
                <a:sym typeface="Urbanist"/>
              </a:rPr>
              <a:t>Метрики</a:t>
            </a:r>
            <a:endParaRPr sz="2400" b="1" dirty="0">
              <a:solidFill>
                <a:srgbClr val="DEFF9A"/>
              </a:solidFill>
            </a:endParaRPr>
          </a:p>
        </p:txBody>
      </p:sp>
      <p:sp>
        <p:nvSpPr>
          <p:cNvPr id="21" name="Google Shape;164;p18">
            <a:extLst>
              <a:ext uri="{FF2B5EF4-FFF2-40B4-BE49-F238E27FC236}">
                <a16:creationId xmlns:a16="http://schemas.microsoft.com/office/drawing/2014/main" id="{E33B3061-7321-C50B-98B1-281660E2D6C9}"/>
              </a:ext>
            </a:extLst>
          </p:cNvPr>
          <p:cNvSpPr txBox="1"/>
          <p:nvPr/>
        </p:nvSpPr>
        <p:spPr>
          <a:xfrm>
            <a:off x="6429375" y="2162175"/>
            <a:ext cx="46101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</a:t>
            </a:r>
            <a:r>
              <a:rPr lang="uk-UA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оефіцієнт пропуску колізій: 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0-100%</a:t>
            </a:r>
            <a:endParaRPr lang="ru-RU" sz="15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165;p18">
            <a:extLst>
              <a:ext uri="{FF2B5EF4-FFF2-40B4-BE49-F238E27FC236}">
                <a16:creationId xmlns:a16="http://schemas.microsoft.com/office/drawing/2014/main" id="{3E96253F-E495-47ED-E7B0-C6F475EA3EB4}"/>
              </a:ext>
            </a:extLst>
          </p:cNvPr>
          <p:cNvSpPr txBox="1"/>
          <p:nvPr/>
        </p:nvSpPr>
        <p:spPr>
          <a:xfrm>
            <a:off x="6429374" y="2993575"/>
            <a:ext cx="51149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ередній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час 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виконання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фізичного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кадру: </a:t>
            </a:r>
            <a:r>
              <a:rPr lang="ru-RU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 </a:t>
            </a:r>
            <a:r>
              <a:rPr lang="ru-RU" sz="150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мікросендах</a:t>
            </a:r>
            <a:endParaRPr lang="ru-RU" sz="150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166;p18">
            <a:extLst>
              <a:ext uri="{FF2B5EF4-FFF2-40B4-BE49-F238E27FC236}">
                <a16:creationId xmlns:a16="http://schemas.microsoft.com/office/drawing/2014/main" id="{70F5F168-AF3C-7E5C-D32F-A0E5AAF49ACC}"/>
              </a:ext>
            </a:extLst>
          </p:cNvPr>
          <p:cNvSpPr txBox="1"/>
          <p:nvPr/>
        </p:nvSpPr>
        <p:spPr>
          <a:xfrm>
            <a:off x="6429375" y="3465740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итрати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пам’яті</a:t>
            </a:r>
            <a:r>
              <a:rPr lang="ru-RU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ru-RU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 </a:t>
            </a:r>
            <a:r>
              <a:rPr lang="ru-RU" sz="150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кілобайтай</a:t>
            </a:r>
            <a:endParaRPr lang="ru-RU" sz="1500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168;p18">
            <a:extLst>
              <a:ext uri="{FF2B5EF4-FFF2-40B4-BE49-F238E27FC236}">
                <a16:creationId xmlns:a16="http://schemas.microsoft.com/office/drawing/2014/main" id="{E5B68B7C-A6FC-49D7-141E-AABD700708F0}"/>
              </a:ext>
            </a:extLst>
          </p:cNvPr>
          <p:cNvSpPr txBox="1"/>
          <p:nvPr/>
        </p:nvSpPr>
        <p:spPr>
          <a:xfrm>
            <a:off x="6096000" y="2162175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5" name="Google Shape;169;p18">
            <a:extLst>
              <a:ext uri="{FF2B5EF4-FFF2-40B4-BE49-F238E27FC236}">
                <a16:creationId xmlns:a16="http://schemas.microsoft.com/office/drawing/2014/main" id="{BC103FF5-ED89-E24E-79C2-689373762A19}"/>
              </a:ext>
            </a:extLst>
          </p:cNvPr>
          <p:cNvSpPr txBox="1"/>
          <p:nvPr/>
        </p:nvSpPr>
        <p:spPr>
          <a:xfrm>
            <a:off x="6096000" y="2993575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" name="Google Shape;170;p18">
            <a:extLst>
              <a:ext uri="{FF2B5EF4-FFF2-40B4-BE49-F238E27FC236}">
                <a16:creationId xmlns:a16="http://schemas.microsoft.com/office/drawing/2014/main" id="{75D59D3D-C02A-2833-5D92-C9DDD9C266AF}"/>
              </a:ext>
            </a:extLst>
          </p:cNvPr>
          <p:cNvSpPr txBox="1"/>
          <p:nvPr/>
        </p:nvSpPr>
        <p:spPr>
          <a:xfrm>
            <a:off x="6096000" y="3465740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" name="Google Shape;165;p18">
            <a:extLst>
              <a:ext uri="{FF2B5EF4-FFF2-40B4-BE49-F238E27FC236}">
                <a16:creationId xmlns:a16="http://schemas.microsoft.com/office/drawing/2014/main" id="{EF29FD42-01DD-86E4-BC50-C71B8EF6A84B}"/>
              </a:ext>
            </a:extLst>
          </p:cNvPr>
          <p:cNvSpPr txBox="1"/>
          <p:nvPr/>
        </p:nvSpPr>
        <p:spPr>
          <a:xfrm>
            <a:off x="6429374" y="2577875"/>
            <a:ext cx="51149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Коефіцієнт</a:t>
            </a:r>
            <a:r>
              <a:rPr lang="ru-RU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хибних</a:t>
            </a:r>
            <a:r>
              <a:rPr lang="ru-RU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спрацювань</a:t>
            </a:r>
            <a:r>
              <a:rPr lang="uk-UA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0-100%</a:t>
            </a:r>
            <a:endParaRPr lang="ru-RU" sz="150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" name="Google Shape;169;p18">
            <a:extLst>
              <a:ext uri="{FF2B5EF4-FFF2-40B4-BE49-F238E27FC236}">
                <a16:creationId xmlns:a16="http://schemas.microsoft.com/office/drawing/2014/main" id="{10876508-4B67-5744-BCA2-0E3D2C914E83}"/>
              </a:ext>
            </a:extLst>
          </p:cNvPr>
          <p:cNvSpPr txBox="1"/>
          <p:nvPr/>
        </p:nvSpPr>
        <p:spPr>
          <a:xfrm>
            <a:off x="6096000" y="2577875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9" name="Google Shape;166;p18">
            <a:extLst>
              <a:ext uri="{FF2B5EF4-FFF2-40B4-BE49-F238E27FC236}">
                <a16:creationId xmlns:a16="http://schemas.microsoft.com/office/drawing/2014/main" id="{0ACB2ACB-7FE3-8244-D9DA-EAB9C4F668D1}"/>
              </a:ext>
            </a:extLst>
          </p:cNvPr>
          <p:cNvSpPr txBox="1"/>
          <p:nvPr/>
        </p:nvSpPr>
        <p:spPr>
          <a:xfrm>
            <a:off x="6429374" y="3937905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Просторову</a:t>
            </a:r>
            <a:r>
              <a:rPr lang="ru-RU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щільність</a:t>
            </a:r>
            <a:r>
              <a:rPr lang="ru-RU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променів</a:t>
            </a:r>
            <a:r>
              <a:rPr lang="en-US" sz="15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endParaRPr lang="ru-RU" sz="1500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170;p18">
            <a:extLst>
              <a:ext uri="{FF2B5EF4-FFF2-40B4-BE49-F238E27FC236}">
                <a16:creationId xmlns:a16="http://schemas.microsoft.com/office/drawing/2014/main" id="{7FC11C80-BE6C-3DA9-BECC-F8C2FE4C58C2}"/>
              </a:ext>
            </a:extLst>
          </p:cNvPr>
          <p:cNvSpPr txBox="1"/>
          <p:nvPr/>
        </p:nvSpPr>
        <p:spPr>
          <a:xfrm>
            <a:off x="6095999" y="3937905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F9507B-6583-C574-7692-430E9786EB33}"/>
                  </a:ext>
                </a:extLst>
              </p:cNvPr>
              <p:cNvSpPr txBox="1"/>
              <p:nvPr/>
            </p:nvSpPr>
            <p:spPr>
              <a:xfrm>
                <a:off x="6774180" y="3934101"/>
                <a:ext cx="6096000" cy="361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DAFFD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solidFill>
                                <a:srgbClr val="DAFFDE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>
                              <a:solidFill>
                                <a:srgbClr val="DAFFDE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𝑟𝑎𝑦𝑠</m:t>
                          </m:r>
                        </m:sub>
                      </m:sSub>
                      <m:r>
                        <a:rPr lang="ru-RU" sz="1600" b="0">
                          <a:solidFill>
                            <a:srgbClr val="DAFFDE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DAFFD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solidFill>
                                <a:srgbClr val="DAFFDE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>
                              <a:solidFill>
                                <a:srgbClr val="DAFFDE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𝑝𝑟𝑜𝑥𝑦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DAFFDE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F9507B-6583-C574-7692-430E9786E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180" y="3934101"/>
                <a:ext cx="6096000" cy="361125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Google Shape;162;p18">
            <a:extLst>
              <a:ext uri="{FF2B5EF4-FFF2-40B4-BE49-F238E27FC236}">
                <a16:creationId xmlns:a16="http://schemas.microsoft.com/office/drawing/2014/main" id="{0967147C-F414-09D9-EB86-4DE3C8519815}"/>
              </a:ext>
            </a:extLst>
          </p:cNvPr>
          <p:cNvSpPr txBox="1"/>
          <p:nvPr/>
        </p:nvSpPr>
        <p:spPr>
          <a:xfrm>
            <a:off x="581023" y="3675568"/>
            <a:ext cx="49434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Тестовий стенд</a:t>
            </a:r>
            <a:endParaRPr sz="2400" b="1" dirty="0">
              <a:solidFill>
                <a:srgbClr val="DEFF9A"/>
              </a:solidFill>
            </a:endParaRPr>
          </a:p>
        </p:txBody>
      </p:sp>
      <p:sp>
        <p:nvSpPr>
          <p:cNvPr id="47" name="Google Shape;164;p18">
            <a:extLst>
              <a:ext uri="{FF2B5EF4-FFF2-40B4-BE49-F238E27FC236}">
                <a16:creationId xmlns:a16="http://schemas.microsoft.com/office/drawing/2014/main" id="{EC321B68-4397-4952-6AA8-E03E63E7E3DB}"/>
              </a:ext>
            </a:extLst>
          </p:cNvPr>
          <p:cNvSpPr txBox="1"/>
          <p:nvPr/>
        </p:nvSpPr>
        <p:spPr>
          <a:xfrm>
            <a:off x="914398" y="4285168"/>
            <a:ext cx="46101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CPU: </a:t>
            </a:r>
            <a:r>
              <a:rPr lang="pt-BR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 Core Ultra 7 155H 1.4 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ГГц (</a:t>
            </a:r>
            <a:r>
              <a:rPr lang="en-US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AVX2</a:t>
            </a:r>
            <a:r>
              <a:rPr lang="uk-UA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сумісний)</a:t>
            </a:r>
            <a:r>
              <a:rPr lang="pt-BR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lang="ru-RU" sz="150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" name="Google Shape;165;p18">
            <a:extLst>
              <a:ext uri="{FF2B5EF4-FFF2-40B4-BE49-F238E27FC236}">
                <a16:creationId xmlns:a16="http://schemas.microsoft.com/office/drawing/2014/main" id="{0C43D56A-29B8-9FAD-80A9-E717D1F24F81}"/>
              </a:ext>
            </a:extLst>
          </p:cNvPr>
          <p:cNvSpPr txBox="1"/>
          <p:nvPr/>
        </p:nvSpPr>
        <p:spPr>
          <a:xfrm>
            <a:off x="914398" y="4655968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GPU: </a:t>
            </a:r>
            <a:r>
              <a:rPr lang="en-US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 Arc Graphics</a:t>
            </a:r>
            <a:endParaRPr lang="ru-RU" sz="150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" name="Google Shape;166;p18">
            <a:extLst>
              <a:ext uri="{FF2B5EF4-FFF2-40B4-BE49-F238E27FC236}">
                <a16:creationId xmlns:a16="http://schemas.microsoft.com/office/drawing/2014/main" id="{C48647EB-9406-D422-E27E-AE8B9219D4B8}"/>
              </a:ext>
            </a:extLst>
          </p:cNvPr>
          <p:cNvSpPr txBox="1"/>
          <p:nvPr/>
        </p:nvSpPr>
        <p:spPr>
          <a:xfrm>
            <a:off x="914398" y="5083233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OS: </a:t>
            </a:r>
            <a:r>
              <a:rPr lang="en-US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Windows 11 </a:t>
            </a:r>
            <a:endParaRPr lang="ru-RU" sz="1500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" name="Google Shape;168;p18">
            <a:extLst>
              <a:ext uri="{FF2B5EF4-FFF2-40B4-BE49-F238E27FC236}">
                <a16:creationId xmlns:a16="http://schemas.microsoft.com/office/drawing/2014/main" id="{AA87ECA6-A510-36B2-C7ED-1B338EAF8D23}"/>
              </a:ext>
            </a:extLst>
          </p:cNvPr>
          <p:cNvSpPr txBox="1"/>
          <p:nvPr/>
        </p:nvSpPr>
        <p:spPr>
          <a:xfrm>
            <a:off x="581023" y="4285168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51" name="Google Shape;169;p18">
            <a:extLst>
              <a:ext uri="{FF2B5EF4-FFF2-40B4-BE49-F238E27FC236}">
                <a16:creationId xmlns:a16="http://schemas.microsoft.com/office/drawing/2014/main" id="{996B4A21-0505-6798-B5D3-F88CE1684A9C}"/>
              </a:ext>
            </a:extLst>
          </p:cNvPr>
          <p:cNvSpPr txBox="1"/>
          <p:nvPr/>
        </p:nvSpPr>
        <p:spPr>
          <a:xfrm>
            <a:off x="581023" y="4655968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52" name="Google Shape;170;p18">
            <a:extLst>
              <a:ext uri="{FF2B5EF4-FFF2-40B4-BE49-F238E27FC236}">
                <a16:creationId xmlns:a16="http://schemas.microsoft.com/office/drawing/2014/main" id="{D2D12460-A114-4DF6-921C-54F7C890B810}"/>
              </a:ext>
            </a:extLst>
          </p:cNvPr>
          <p:cNvSpPr txBox="1"/>
          <p:nvPr/>
        </p:nvSpPr>
        <p:spPr>
          <a:xfrm>
            <a:off x="581023" y="5083233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53" name="Google Shape;166;p18">
            <a:extLst>
              <a:ext uri="{FF2B5EF4-FFF2-40B4-BE49-F238E27FC236}">
                <a16:creationId xmlns:a16="http://schemas.microsoft.com/office/drawing/2014/main" id="{318E36D9-66BE-D8BF-3EA9-DE9B903C8624}"/>
              </a:ext>
            </a:extLst>
          </p:cNvPr>
          <p:cNvSpPr txBox="1"/>
          <p:nvPr/>
        </p:nvSpPr>
        <p:spPr>
          <a:xfrm>
            <a:off x="914398" y="5510498"/>
            <a:ext cx="35052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RAM: </a:t>
            </a:r>
            <a:r>
              <a:rPr lang="en-US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32</a:t>
            </a:r>
            <a:r>
              <a:rPr lang="ru-RU" sz="150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ГБ</a:t>
            </a:r>
            <a:endParaRPr lang="ru-RU" sz="1500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" name="Google Shape;170;p18">
            <a:extLst>
              <a:ext uri="{FF2B5EF4-FFF2-40B4-BE49-F238E27FC236}">
                <a16:creationId xmlns:a16="http://schemas.microsoft.com/office/drawing/2014/main" id="{A176B9F4-BA1B-A869-6C5C-EF1E1D2DDEED}"/>
              </a:ext>
            </a:extLst>
          </p:cNvPr>
          <p:cNvSpPr txBox="1"/>
          <p:nvPr/>
        </p:nvSpPr>
        <p:spPr>
          <a:xfrm>
            <a:off x="581023" y="5510498"/>
            <a:ext cx="1448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8C184472-E8D6-1DB4-51F3-28832A7E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>
            <a:extLst>
              <a:ext uri="{FF2B5EF4-FFF2-40B4-BE49-F238E27FC236}">
                <a16:creationId xmlns:a16="http://schemas.microsoft.com/office/drawing/2014/main" id="{0F06132A-8138-CDA4-EC19-4E7B2110AD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4063728C-86B5-039E-5484-C2473FEFFB66}"/>
              </a:ext>
            </a:extLst>
          </p:cNvPr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Результати</a:t>
            </a: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uk-UA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експериментів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C63C3D2-88B3-43A8-808E-700DB33E8F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302736"/>
              </p:ext>
            </p:extLst>
          </p:nvPr>
        </p:nvGraphicFramePr>
        <p:xfrm>
          <a:off x="581025" y="1962150"/>
          <a:ext cx="5501640" cy="3239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AEE6574-5B43-27E1-01E6-3D500C8F2D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117527"/>
              </p:ext>
            </p:extLst>
          </p:nvPr>
        </p:nvGraphicFramePr>
        <p:xfrm>
          <a:off x="6476047" y="1962150"/>
          <a:ext cx="5322570" cy="3239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515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Результати</a:t>
            </a: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uk-UA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експериментів</a:t>
            </a:r>
            <a:endParaRPr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3323A62-2B67-35F5-C8CA-50C3AF6C49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133332"/>
              </p:ext>
            </p:extLst>
          </p:nvPr>
        </p:nvGraphicFramePr>
        <p:xfrm>
          <a:off x="7340600" y="409438"/>
          <a:ext cx="4170680" cy="301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F0A82D3-3115-1B86-9425-91769FBA06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2368776"/>
              </p:ext>
            </p:extLst>
          </p:nvPr>
        </p:nvGraphicFramePr>
        <p:xfrm>
          <a:off x="792480" y="1856060"/>
          <a:ext cx="5415280" cy="3548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3323A62-2B67-35F5-C8CA-50C3AF6C49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744628"/>
              </p:ext>
            </p:extLst>
          </p:nvPr>
        </p:nvGraphicFramePr>
        <p:xfrm>
          <a:off x="7340600" y="3630250"/>
          <a:ext cx="4170680" cy="2818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6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04950"/>
            <a:ext cx="5372100" cy="22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24151"/>
            <a:ext cx="5372100" cy="22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504950"/>
            <a:ext cx="5372100" cy="22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3924151"/>
            <a:ext cx="5372100" cy="245536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8675" y="1752600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Співставлення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з 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цілями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дослідження</a:t>
            </a:r>
            <a:endParaRPr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828675" y="2190750"/>
            <a:ext cx="4876800" cy="113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Розроблена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підсистема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реалізувала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поставлені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технічні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вимог</a:t>
            </a:r>
            <a:r>
              <a:rPr lang="uk-UA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и та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uk-UA" sz="1275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е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кспериментально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доведено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uk-UA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мінімізаці</a:t>
            </a:r>
            <a:r>
              <a:rPr lang="uk-UA" sz="1275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ю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ефекту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тунелювання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для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uk-UA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малих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геометричних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об'єктів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без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виходу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критичні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межі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обчислювального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бюджету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кадру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.</a:t>
            </a:r>
            <a:endParaRPr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828675" y="4171801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Висновки з отриманих даних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28675" y="4609951"/>
            <a:ext cx="4876800" cy="137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Аналіз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зібраної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телеметрії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підтвердив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лінійну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складність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O(N)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алгоритму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агрегації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.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Тимчасові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витрати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на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рівні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20–30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мікросекунд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є </a:t>
            </a:r>
            <a:r>
              <a:rPr lang="uk-UA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доволі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стабільними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не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демонструють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експоненціального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зростання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при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збільшенні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лінійної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швидкості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150 м/с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або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кутового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обертання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120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рад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/с.</a:t>
            </a:r>
            <a:endParaRPr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6486525" y="1752600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Інтерпретація результатів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486525" y="2190750"/>
            <a:ext cx="4876800" cy="113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Висока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продуктивність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обчислювального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ядра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зумовлена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оптимізацією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кеш-пам'яті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L1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процесора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через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перехід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на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Data-Oriented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дизайн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.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Впровадження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інструкцій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AVX2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дозволило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виконувати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векторизований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прорахунок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перетинів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Меллера-Трамбора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паралельно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для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восьми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елементів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один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такт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.</a:t>
            </a:r>
            <a:endParaRPr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6486525" y="4171801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Вплив на теорію та практику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486525" y="4609951"/>
            <a:ext cx="4876800" cy="137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В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теоретичному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аспекті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доведено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можливість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подолання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"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парадоксу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Зенона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" в Continuous Collision Detection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за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допомогою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аналітичного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прогнозування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траєкторій</a:t>
            </a:r>
            <a:r>
              <a:rPr lang="uk-UA" sz="1275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, що робить метод доволі привабливим для використання в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комерційн</a:t>
            </a:r>
            <a:r>
              <a:rPr lang="uk-UA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их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проект</a:t>
            </a:r>
            <a:r>
              <a:rPr lang="uk-UA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ах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на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Unreal Engine 5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для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оптимізації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файтингів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та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 </a:t>
            </a:r>
            <a:r>
              <a:rPr lang="en-US" sz="1275" b="0" i="0" u="none" strike="noStrike" cap="none" dirty="0" err="1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шутерів</a:t>
            </a:r>
            <a:r>
              <a:rPr lang="en-US" sz="1275" b="0" i="0" u="none" strike="noStrike" cap="none" dirty="0">
                <a:solidFill>
                  <a:srgbClr val="DAFFDE"/>
                </a:solidFill>
                <a:latin typeface="Arimo"/>
                <a:ea typeface="Urbanist" panose="020B0604020202020204" charset="0"/>
                <a:cs typeface="Urbanist" panose="020B0604020202020204" charset="0"/>
                <a:sym typeface="Arimo"/>
              </a:rPr>
              <a:t>.</a:t>
            </a:r>
            <a:endParaRPr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Аналіз</a:t>
            </a:r>
            <a:r>
              <a:rPr lang="en-US" sz="39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9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та</a:t>
            </a:r>
            <a:r>
              <a:rPr lang="en-US" sz="39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9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Узагальнення</a:t>
            </a:r>
            <a:r>
              <a:rPr lang="en-US" sz="39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9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Результатів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Апробація</a:t>
            </a: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uk-UA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результатів</a:t>
            </a:r>
            <a:endParaRPr dirty="0"/>
          </a:p>
        </p:txBody>
      </p:sp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5C8F26FB-E7AB-CB22-791C-E2E2ECBADE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62100"/>
            <a:ext cx="9708869" cy="24658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815913" y="1878738"/>
            <a:ext cx="9358842" cy="176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Наукова</a:t>
            </a:r>
            <a:r>
              <a:rPr lang="ru-RU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публікац</a:t>
            </a:r>
            <a:r>
              <a:rPr lang="uk-UA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ія</a:t>
            </a:r>
            <a:endParaRPr lang="uk-UA" sz="1800" b="1" i="0" u="none" strike="noStrike" cap="none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1" dirty="0" err="1">
                <a:solidFill>
                  <a:srgbClr val="DAFFDE"/>
                </a:solidFill>
              </a:rPr>
              <a:t>Черепко</a:t>
            </a:r>
            <a:r>
              <a:rPr lang="uk-UA" sz="1600" b="1" dirty="0">
                <a:solidFill>
                  <a:srgbClr val="DAFFDE"/>
                </a:solidFill>
              </a:rPr>
              <a:t> Є.Ю., Шубін І.Ю.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1" dirty="0">
                <a:solidFill>
                  <a:srgbClr val="DAFFDE"/>
                </a:solidFill>
              </a:rPr>
              <a:t>«</a:t>
            </a:r>
            <a:r>
              <a:rPr lang="en-US" sz="1600" i="1" dirty="0">
                <a:solidFill>
                  <a:srgbClr val="DAFFDE"/>
                </a:solidFill>
              </a:rPr>
              <a:t>Methods for accurate and performant 3D collision detection of fast moving objects in video games</a:t>
            </a:r>
            <a:r>
              <a:rPr lang="ru-RU" sz="1600" i="1" dirty="0">
                <a:solidFill>
                  <a:srgbClr val="DAFFDE"/>
                </a:solidFill>
              </a:rPr>
              <a:t>»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DAFFDE"/>
                </a:solidFill>
              </a:rPr>
              <a:t>Матеріали Міжнародної науково-технічної конференції ІКТК-2025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DAFFDE"/>
                </a:solidFill>
              </a:rPr>
              <a:t>Харків, ХНУРЕ, 2025, С. 200-202</a:t>
            </a:r>
            <a:endParaRPr sz="1600" dirty="0">
              <a:solidFill>
                <a:srgbClr val="DAFFDE"/>
              </a:solidFill>
            </a:endParaRPr>
          </a:p>
        </p:txBody>
      </p:sp>
      <p:sp>
        <p:nvSpPr>
          <p:cNvPr id="5" name="Google Shape;164;p18">
            <a:extLst>
              <a:ext uri="{FF2B5EF4-FFF2-40B4-BE49-F238E27FC236}">
                <a16:creationId xmlns:a16="http://schemas.microsoft.com/office/drawing/2014/main" id="{F8417559-354D-AB29-879A-1033519906E1}"/>
              </a:ext>
            </a:extLst>
          </p:cNvPr>
          <p:cNvSpPr txBox="1"/>
          <p:nvPr/>
        </p:nvSpPr>
        <p:spPr>
          <a:xfrm>
            <a:off x="581026" y="4796664"/>
            <a:ext cx="970886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Запропонована стратегія оптимізації для виявлення зіткнень швидко-рухаючись об’єктів через адаптивну система трасування проміння, яка </a:t>
            </a:r>
            <a:r>
              <a:rPr lang="uk-UA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динамічно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регулює кількість активних промінів-</a:t>
            </a:r>
            <a:r>
              <a:rPr lang="uk-UA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сокетів</a:t>
            </a:r>
            <a:r>
              <a:rPr lang="en-US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на основі кутової швидкості о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б</a:t>
            </a:r>
            <a:r>
              <a:rPr lang="en-US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’</a:t>
            </a:r>
            <a:r>
              <a:rPr lang="uk-UA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єкта</a:t>
            </a:r>
            <a:r>
              <a:rPr lang="en-US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Цей гібридний підхід використовує низьке споживання ресурсів трасування променів, гарантуючи при цьому точність реєстрації влучень, яка зазвичай притаманна дорогим </a:t>
            </a:r>
            <a:r>
              <a:rPr lang="en-US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CCD-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алгоритмам.</a:t>
            </a:r>
            <a:endParaRPr lang="ru-RU" sz="150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" name="Google Shape;229;p23">
            <a:extLst>
              <a:ext uri="{FF2B5EF4-FFF2-40B4-BE49-F238E27FC236}">
                <a16:creationId xmlns:a16="http://schemas.microsoft.com/office/drawing/2014/main" id="{98C10010-D586-3437-D1E3-FF51D61B0B2B}"/>
              </a:ext>
            </a:extLst>
          </p:cNvPr>
          <p:cNvSpPr txBox="1"/>
          <p:nvPr/>
        </p:nvSpPr>
        <p:spPr>
          <a:xfrm>
            <a:off x="581025" y="4262716"/>
            <a:ext cx="935884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uk-UA" sz="18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Результати представлені у публікації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6934B78-6B9A-4DBE-9014-5A3485CE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2132314C-5B3C-67E2-1634-D4BDEE8598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438DF635-5DE6-F284-EAC4-B430D05589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52600"/>
            <a:ext cx="5419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C1C0AB72-1FE1-8C4B-29E5-6B59B6492E2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752600"/>
            <a:ext cx="5419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>
            <a:extLst>
              <a:ext uri="{FF2B5EF4-FFF2-40B4-BE49-F238E27FC236}">
                <a16:creationId xmlns:a16="http://schemas.microsoft.com/office/drawing/2014/main" id="{479A9BDB-37E7-A265-4AAD-AB35D3BFED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90975"/>
            <a:ext cx="5419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>
            <a:extLst>
              <a:ext uri="{FF2B5EF4-FFF2-40B4-BE49-F238E27FC236}">
                <a16:creationId xmlns:a16="http://schemas.microsoft.com/office/drawing/2014/main" id="{2D1D493A-F6A6-A8DB-2EA1-8DDBF0AD2A2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990975"/>
            <a:ext cx="541972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878A0434-FC12-C6C8-7D77-2B306892857C}"/>
              </a:ext>
            </a:extLst>
          </p:cNvPr>
          <p:cNvSpPr txBox="1"/>
          <p:nvPr/>
        </p:nvSpPr>
        <p:spPr>
          <a:xfrm>
            <a:off x="876300" y="2047875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Корисність результатів</a:t>
            </a:r>
            <a:endParaRPr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8A9DB2A4-4E30-E011-DB36-CC90E4041319}"/>
              </a:ext>
            </a:extLst>
          </p:cNvPr>
          <p:cNvSpPr txBox="1"/>
          <p:nvPr/>
        </p:nvSpPr>
        <p:spPr>
          <a:xfrm>
            <a:off x="876300" y="2514600"/>
            <a:ext cx="48291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Телеметрія дозволяє кількісно оцінити та порівняти характеристики розробленої стратегії з </a:t>
            </a: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існуючими </a:t>
            </a:r>
            <a:r>
              <a:rPr lang="uk-UA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аналогами.</a:t>
            </a:r>
            <a:endParaRPr dirty="0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E4AAB322-D9F3-235B-0991-10A14C0DFF3D}"/>
              </a:ext>
            </a:extLst>
          </p:cNvPr>
          <p:cNvSpPr txBox="1"/>
          <p:nvPr/>
        </p:nvSpPr>
        <p:spPr>
          <a:xfrm>
            <a:off x="6486525" y="2047875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Покращення</a:t>
            </a:r>
            <a:endParaRPr dirty="0"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0E7AAF74-8615-BDEB-48F0-D3025ACC0B2B}"/>
              </a:ext>
            </a:extLst>
          </p:cNvPr>
          <p:cNvSpPr txBox="1"/>
          <p:nvPr/>
        </p:nvSpPr>
        <p:spPr>
          <a:xfrm>
            <a:off x="6486525" y="2514600"/>
            <a:ext cx="48291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dirty="0">
                <a:solidFill>
                  <a:srgbClr val="DAFFDE"/>
                </a:solidFill>
                <a:ea typeface="Urbanist"/>
                <a:cs typeface="Urbanist"/>
                <a:sym typeface="Urbanist"/>
              </a:rPr>
              <a:t>Еволюція алгоритму рівномірного розподілу для твердих тіл різноманітної форми.</a:t>
            </a:r>
            <a:endParaRPr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D417981D-5F31-567A-CE60-4FE306506C8B}"/>
              </a:ext>
            </a:extLst>
          </p:cNvPr>
          <p:cNvSpPr txBox="1"/>
          <p:nvPr/>
        </p:nvSpPr>
        <p:spPr>
          <a:xfrm>
            <a:off x="876300" y="428625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Наукова цінність</a:t>
            </a:r>
            <a:endParaRPr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70185E01-A6B6-29D1-D93E-6BA3396AAD3A}"/>
              </a:ext>
            </a:extLst>
          </p:cNvPr>
          <p:cNvSpPr txBox="1"/>
          <p:nvPr/>
        </p:nvSpPr>
        <p:spPr>
          <a:xfrm>
            <a:off x="876300" y="4752975"/>
            <a:ext cx="48291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Математична формалізація та реалізація 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методу адаптивного </a:t>
            </a: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прогностичного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трасування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простору, як </a:t>
            </a: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заміна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складним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аналітичним</a:t>
            </a:r>
            <a:r>
              <a:rPr lang="ru-RU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методам.</a:t>
            </a:r>
            <a:endParaRPr dirty="0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AEF755A0-1030-D71B-704A-061CFABE7922}"/>
              </a:ext>
            </a:extLst>
          </p:cNvPr>
          <p:cNvSpPr txBox="1"/>
          <p:nvPr/>
        </p:nvSpPr>
        <p:spPr>
          <a:xfrm>
            <a:off x="6486525" y="428625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Перспективи</a:t>
            </a:r>
            <a:endParaRPr dirty="0"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4B638C9F-A17F-23E4-9F00-D08EF9B1D34C}"/>
              </a:ext>
            </a:extLst>
          </p:cNvPr>
          <p:cNvSpPr txBox="1"/>
          <p:nvPr/>
        </p:nvSpPr>
        <p:spPr>
          <a:xfrm>
            <a:off x="6486525" y="4752975"/>
            <a:ext cx="48291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еренесення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масивів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обчислень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з центрального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процесора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графічний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ru-RU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прискорювач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2AD1963-5255-4768-9782-FE633BED91E7}"/>
              </a:ext>
            </a:extLst>
          </p:cNvPr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6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Висновки</a:t>
            </a:r>
            <a:endParaRPr dirty="0">
              <a:solidFill>
                <a:srgbClr val="DEFF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33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941</Words>
  <Application>Microsoft Office PowerPoint</Application>
  <PresentationFormat>Widescreen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Arimo</vt:lpstr>
      <vt:lpstr>Calibri</vt:lpstr>
      <vt:lpstr>Urbanist</vt:lpstr>
      <vt:lpstr>Cambria Math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Yevhen Cherepko</dc:creator>
  <cp:lastModifiedBy>Yevhen Cherepko</cp:lastModifiedBy>
  <cp:revision>15</cp:revision>
  <dcterms:modified xsi:type="dcterms:W3CDTF">2026-05-24T02:50:09Z</dcterms:modified>
</cp:coreProperties>
</file>